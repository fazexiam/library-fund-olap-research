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34831-FC2B-B50C-992D-25E491A7C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90E2E0-8D9A-9004-795A-2A832FC1A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BAEC87-11AB-14CB-9BD5-7815FA2BE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485DB7-37C3-5CE5-B2D0-E245117B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9D1E5C-8EC0-7276-74C2-A706D83A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1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4EC63-2A38-9BB9-9F67-331ECEDF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DD9F7F-EC73-5614-A759-6ACA3E003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46D58D-7D8B-052C-FF3D-5AB526CC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7A00FE-F939-0EBE-49F0-FB775A24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5C7D4B-1BD5-281E-CAB1-1E80751E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865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08188C-10A2-EF09-6A44-D1AAB705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9C6AAE-8859-D7CF-2ABD-5FA86B3E9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137F03-A81D-1BA4-DC2D-09E7EF78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C36DEA-5525-E528-C1B8-244A5237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31EF6A-91AB-7A33-5C53-B012C9A6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49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8B4EE-F6C6-C48B-E27E-CC49528C8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F77350-5350-3EE6-5450-4DB381B4E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CA8D08-4818-3EA4-C4BB-382DBC7BF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66C0F6-E93C-4267-B9DC-765DAC09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CBB4E8-5F9A-8CB0-EC81-4A093F13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BAC86E-F5A9-9BA0-00F2-05C96748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6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71291-4F2E-A380-0D12-E4DBE14E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C64330-6EF6-AC1A-A53C-A4B129D60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3F27D6-EF8D-A105-9A39-D006408CE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D96BEA-5A27-BB9D-6374-E2639C512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77BC67-4617-77FD-A6C1-322A46D62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0B0F03-5792-3F21-9052-5CD31A92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966C4F-9901-209A-C114-7D471FCC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0470BD-8EBB-D952-812E-4F908A2EE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74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12B0A-0C61-55A6-0B84-862708CE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4626A8-4DF9-1CC1-CC16-598FF8A92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F3040E-649B-3261-DE2D-F2E26FC2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5896208-5B0A-9110-80C4-CABE4247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91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E1D20A-3C1C-155C-E0C7-63E1D116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FD8D0E7-3B59-24CE-CAF2-F6B1319CD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A447C1-CAA6-8B12-EFDC-B30A34A9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B59A65-FBAD-BE80-39C7-AB639097D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0BAE21-00F5-F87A-4453-C9FFD0950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CA63C5-3D66-5843-12EA-BAF7A5809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9B002-F320-BFAE-EF6A-58887A77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7E4FE1-522A-44B1-6CBC-3A87C111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6CA627-D538-4901-D9AD-93669872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0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AFADE-E733-E2A5-5068-E0B1568D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CCADE63-42E3-5BA4-01A1-C918ED37F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0E17F9-7F00-FA89-9407-7A613060B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C67BFB-BFB5-331D-5413-04D81A99B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1C9C7D-A293-9EF0-B0B1-DDB0806A6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8DE2FC-5D97-B0AA-B0DE-982B7EA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162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8A7AA-266A-5323-D169-99126843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7C1CDE7-C993-8A08-A06D-6D28C04FD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E6CE19-6ED7-FA88-9456-DB569C1C7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409C00-C6C4-FBC4-AA0A-72D3C63E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8D7A60-973D-F88A-2100-543B6395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D08E92-8BD8-6992-CF68-623390624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DFA93A-2533-5960-EBF2-D020AB555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0234F2-8B7F-D9B4-0C07-9F7D8343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932566-253F-03AE-C316-CF1C3042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06DDC2-F370-2AC0-7BA1-AA53C96C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86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72623-040E-D708-B9AF-CD791C93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A5DBB-4EAA-79CF-59AD-79486B1DF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B63E6D-8715-8824-8239-68594C4AE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E4CD0-DCC2-4E1F-ACB4-03F57A90E81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8A7122-7EE6-A57A-9E1D-8708D6813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AD3251-B737-2A36-41A8-4B6E979A6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96A57-8870-4F4D-B45C-A3A1D9CB8E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84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3C1F55-DF31-1262-6E29-2D39F4557CFE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774EB-7957-E016-B53D-43F13C610857}"/>
              </a:ext>
            </a:extLst>
          </p:cNvPr>
          <p:cNvSpPr txBox="1"/>
          <p:nvPr/>
        </p:nvSpPr>
        <p:spPr>
          <a:xfrm>
            <a:off x="635000" y="571500"/>
            <a:ext cx="10922000" cy="91307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OLAP-система анализа эффективности использования библиотечного фонда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76CAF-E10C-7C0F-037C-EF991033F5D3}"/>
              </a:ext>
            </a:extLst>
          </p:cNvPr>
          <p:cNvSpPr txBox="1"/>
          <p:nvPr/>
        </p:nvSpPr>
        <p:spPr>
          <a:xfrm>
            <a:off x="635000" y="1308100"/>
            <a:ext cx="106045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>
                <a:solidFill>
                  <a:srgbClr val="52616B"/>
                </a:solidFill>
                <a:latin typeface="Arial" panose="020B0604020202020204" pitchFamily="34" charset="0"/>
              </a:rPr>
              <a:t>Итоговый отчет по учебной практике НИР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1C72F-DBEC-24CE-5EA9-98A6BAD3F5A5}"/>
              </a:ext>
            </a:extLst>
          </p:cNvPr>
          <p:cNvSpPr txBox="1"/>
          <p:nvPr/>
        </p:nvSpPr>
        <p:spPr>
          <a:xfrm>
            <a:off x="889000" y="2667000"/>
            <a:ext cx="10414000" cy="159017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000">
                <a:solidFill>
                  <a:srgbClr val="1F2933"/>
                </a:solidFill>
                <a:latin typeface="Arial" panose="020B0604020202020204" pitchFamily="34" charset="0"/>
              </a:rPr>
              <a:t>Брыляков Никита Евгеньевич</a:t>
            </a:r>
          </a:p>
          <a:p>
            <a:r>
              <a:rPr lang="ru-RU" sz="2000">
                <a:solidFill>
                  <a:srgbClr val="1F2933"/>
                </a:solidFill>
                <a:latin typeface="Arial" panose="020B0604020202020204" pitchFamily="34" charset="0"/>
              </a:rPr>
              <a:t>Направление: 02.03.02 Фундаментальная информатика и информационные технологии</a:t>
            </a:r>
          </a:p>
          <a:p>
            <a:r>
              <a:rPr lang="ru-RU" sz="2000">
                <a:solidFill>
                  <a:srgbClr val="1F2933"/>
                </a:solidFill>
                <a:latin typeface="Arial" panose="020B0604020202020204" pitchFamily="34" charset="0"/>
              </a:rPr>
              <a:t>Научный руководитель: Фомин М. Б.</a:t>
            </a:r>
          </a:p>
          <a:p>
            <a:r>
              <a:rPr lang="ru-RU" sz="2000">
                <a:solidFill>
                  <a:srgbClr val="1F2933"/>
                </a:solidFill>
                <a:latin typeface="Arial" panose="020B0604020202020204" pitchFamily="34" charset="0"/>
              </a:rPr>
              <a:t>Репозиторий: github.com/FazexIam/library-fund-olap-research</a:t>
            </a:r>
          </a:p>
        </p:txBody>
      </p:sp>
    </p:spTree>
    <p:extLst>
      <p:ext uri="{BB962C8B-B14F-4D97-AF65-F5344CB8AC3E}">
        <p14:creationId xmlns:p14="http://schemas.microsoft.com/office/powerpoint/2010/main" val="147860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C2ECC2B-0818-98C8-9936-7D1BBAF3C2C0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0D0D6-E7D8-D950-4D2C-1EA213588172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Проблема и актуальность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C65714-82FF-03CF-A98F-4B98338E22D1}"/>
              </a:ext>
            </a:extLst>
          </p:cNvPr>
          <p:cNvSpPr txBox="1"/>
          <p:nvPr/>
        </p:nvSpPr>
        <p:spPr>
          <a:xfrm>
            <a:off x="1016000" y="1778000"/>
            <a:ext cx="10033000" cy="27597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Библиотека хранит данные о фонде, читателях, выдачах, возвратах и филиалах.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Обычная статистика показывает отдельные числа, но плохо поддерживает сравнение по разрезам.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Для управления фондом нужны показатели по времени, разделам фонда, филиалам и группам читателей.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OLAP-подход позволяет получать такие аналитические срезы на основе единой модели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369839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6B2F82-B3D9-7CD4-E450-20210DC2359A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7CE84-10DB-555E-64F1-E0686B5160B5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Цель и задачи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05C9F-BAE1-7C43-AD6E-680A32D93ACA}"/>
              </a:ext>
            </a:extLst>
          </p:cNvPr>
          <p:cNvSpPr txBox="1"/>
          <p:nvPr/>
        </p:nvSpPr>
        <p:spPr>
          <a:xfrm>
            <a:off x="889000" y="1651000"/>
            <a:ext cx="10414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000" b="1">
                <a:solidFill>
                  <a:srgbClr val="1F2933"/>
                </a:solidFill>
                <a:latin typeface="Arial" panose="020B0604020202020204" pitchFamily="34" charset="0"/>
              </a:rPr>
              <a:t>Цель: разработать и обосновать подход к построению OLAP-системы анализа использования библиотечного фонда.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58E60-DDF8-673D-C700-AD092867E7F0}"/>
              </a:ext>
            </a:extLst>
          </p:cNvPr>
          <p:cNvSpPr txBox="1"/>
          <p:nvPr/>
        </p:nvSpPr>
        <p:spPr>
          <a:xfrm>
            <a:off x="1206500" y="2667000"/>
            <a:ext cx="9652000" cy="166712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изучить OLAP и библиотечные показатели;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выбрать технологический подход;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спроектировать ROLAP-модель данных;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подготовить прототип базы, SQL-запросы, таблицы и графики;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интерпретировать результаты и определить дальнейшее развитие.</a:t>
            </a:r>
          </a:p>
        </p:txBody>
      </p:sp>
    </p:spTree>
    <p:extLst>
      <p:ext uri="{BB962C8B-B14F-4D97-AF65-F5344CB8AC3E}">
        <p14:creationId xmlns:p14="http://schemas.microsoft.com/office/powerpoint/2010/main" val="346627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707D1F-83C8-A498-2804-82CCE5E7D55F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8C66D-8C4C-39F1-1BFF-8C048ABA2D27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Методология и выбранный подход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C861F7E-F18B-69EC-ED1C-DC25942CB488}"/>
              </a:ext>
            </a:extLst>
          </p:cNvPr>
          <p:cNvSpPr/>
          <p:nvPr/>
        </p:nvSpPr>
        <p:spPr>
          <a:xfrm>
            <a:off x="889000" y="1841500"/>
            <a:ext cx="3111500" cy="889000"/>
          </a:xfrm>
          <a:prstGeom prst="rect">
            <a:avLst/>
          </a:prstGeom>
          <a:solidFill>
            <a:srgbClr val="DDEFEF"/>
          </a:solidFill>
          <a:ln>
            <a:solidFill>
              <a:srgbClr val="8FB9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F2933"/>
                </a:solidFill>
                <a:latin typeface="Arial" panose="020B0604020202020204" pitchFamily="34" charset="0"/>
              </a:rPr>
              <a:t>ROLAP</a:t>
            </a:r>
            <a:endParaRPr lang="ru-RU" sz="2600" b="1">
              <a:solidFill>
                <a:srgbClr val="1F2933"/>
              </a:solidFill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AEE398-1390-0E44-8078-04954272E9E0}"/>
              </a:ext>
            </a:extLst>
          </p:cNvPr>
          <p:cNvSpPr/>
          <p:nvPr/>
        </p:nvSpPr>
        <p:spPr>
          <a:xfrm>
            <a:off x="4572000" y="1841500"/>
            <a:ext cx="3111500" cy="889000"/>
          </a:xfrm>
          <a:prstGeom prst="rect">
            <a:avLst/>
          </a:prstGeom>
          <a:solidFill>
            <a:srgbClr val="E8EEF8"/>
          </a:solidFill>
          <a:ln>
            <a:solidFill>
              <a:srgbClr val="A9B7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F2933"/>
                </a:solidFill>
                <a:latin typeface="Arial" panose="020B0604020202020204" pitchFamily="34" charset="0"/>
              </a:rPr>
              <a:t>SQLite</a:t>
            </a:r>
            <a:endParaRPr lang="ru-RU" sz="2600" b="1">
              <a:solidFill>
                <a:srgbClr val="1F2933"/>
              </a:solidFill>
              <a:latin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1F4040-1003-9DD4-DAE4-7D3952222DA7}"/>
              </a:ext>
            </a:extLst>
          </p:cNvPr>
          <p:cNvSpPr/>
          <p:nvPr/>
        </p:nvSpPr>
        <p:spPr>
          <a:xfrm>
            <a:off x="8255000" y="1841500"/>
            <a:ext cx="3111500" cy="889000"/>
          </a:xfrm>
          <a:prstGeom prst="rect">
            <a:avLst/>
          </a:prstGeom>
          <a:solidFill>
            <a:srgbClr val="F3EBDD"/>
          </a:solidFill>
          <a:ln>
            <a:solidFill>
              <a:srgbClr val="C9B2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>
                <a:solidFill>
                  <a:srgbClr val="1F2933"/>
                </a:solidFill>
                <a:latin typeface="Arial" panose="020B0604020202020204" pitchFamily="34" charset="0"/>
              </a:rPr>
              <a:t>SQL-</a:t>
            </a:r>
            <a:r>
              <a:rPr lang="ru-RU" sz="2600" b="1">
                <a:solidFill>
                  <a:srgbClr val="1F2933"/>
                </a:solidFill>
                <a:latin typeface="Arial" panose="020B0604020202020204" pitchFamily="34" charset="0"/>
              </a:rPr>
              <a:t>запросы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FA747-42EB-09E6-EF57-2E56AF66ADB0}"/>
              </a:ext>
            </a:extLst>
          </p:cNvPr>
          <p:cNvSpPr txBox="1"/>
          <p:nvPr/>
        </p:nvSpPr>
        <p:spPr>
          <a:xfrm>
            <a:off x="1143000" y="3556000"/>
            <a:ext cx="10033000" cy="189795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1F2933"/>
                </a:solidFill>
                <a:latin typeface="Arial" panose="020B0604020202020204" pitchFamily="34" charset="0"/>
              </a:rPr>
              <a:t>ROLAP выбран из-за прозрачности расчетов и связи с реляционными библиотечными данными.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1F2933"/>
                </a:solidFill>
                <a:latin typeface="Arial" panose="020B0604020202020204" pitchFamily="34" charset="0"/>
              </a:rPr>
              <a:t>SQLite подходит для учебного прототипа: файл можно открыть и проверить без сервера.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>
                <a:solidFill>
                  <a:srgbClr val="1F2933"/>
                </a:solidFill>
                <a:latin typeface="Arial" panose="020B0604020202020204" pitchFamily="34" charset="0"/>
              </a:rPr>
              <a:t>SQL фиксирует методику расчета показателей и делает результат воспроизводимым.</a:t>
            </a:r>
          </a:p>
        </p:txBody>
      </p:sp>
    </p:spTree>
    <p:extLst>
      <p:ext uri="{BB962C8B-B14F-4D97-AF65-F5344CB8AC3E}">
        <p14:creationId xmlns:p14="http://schemas.microsoft.com/office/powerpoint/2010/main" val="37409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352092-EBE7-1FEA-EA2E-3993FA6361E8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A6375-40D6-164A-4D80-C805F8D50F8E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Модель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329DADD-924D-CEBF-C238-FA338CE6AFA0}"/>
              </a:ext>
            </a:extLst>
          </p:cNvPr>
          <p:cNvSpPr/>
          <p:nvPr/>
        </p:nvSpPr>
        <p:spPr>
          <a:xfrm>
            <a:off x="4572000" y="2921000"/>
            <a:ext cx="3048000" cy="952500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</a:rPr>
              <a:t>fact_circulation</a:t>
            </a:r>
          </a:p>
          <a:p>
            <a:pPr algn="ctr"/>
            <a:r>
              <a:rPr lang="ru-RU" sz="2000" b="1">
                <a:solidFill>
                  <a:srgbClr val="FFFFFF"/>
                </a:solidFill>
                <a:latin typeface="Arial" panose="020B0604020202020204" pitchFamily="34" charset="0"/>
              </a:rPr>
              <a:t>выдачи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094D3DC-04F2-D4F6-9559-7F91AB0A5150}"/>
              </a:ext>
            </a:extLst>
          </p:cNvPr>
          <p:cNvSpPr/>
          <p:nvPr/>
        </p:nvSpPr>
        <p:spPr>
          <a:xfrm>
            <a:off x="1206500" y="1714500"/>
            <a:ext cx="2413000" cy="762000"/>
          </a:xfrm>
          <a:prstGeom prst="rect">
            <a:avLst/>
          </a:prstGeom>
          <a:solidFill>
            <a:srgbClr val="DDEFEF"/>
          </a:solidFill>
          <a:ln>
            <a:solidFill>
              <a:srgbClr val="8FB9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1F2933"/>
                </a:solidFill>
                <a:latin typeface="Arial" panose="020B0604020202020204" pitchFamily="34" charset="0"/>
              </a:rPr>
              <a:t>dim_date</a:t>
            </a:r>
          </a:p>
          <a:p>
            <a:pPr algn="ctr"/>
            <a:r>
              <a:rPr lang="ru-RU" b="1">
                <a:solidFill>
                  <a:srgbClr val="1F2933"/>
                </a:solidFill>
                <a:latin typeface="Arial" panose="020B0604020202020204" pitchFamily="34" charset="0"/>
              </a:rPr>
              <a:t>даты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FBE6091-7AB8-A97E-468C-DB12D19C53C7}"/>
              </a:ext>
            </a:extLst>
          </p:cNvPr>
          <p:cNvSpPr/>
          <p:nvPr/>
        </p:nvSpPr>
        <p:spPr>
          <a:xfrm>
            <a:off x="8572500" y="1714500"/>
            <a:ext cx="2413000" cy="762000"/>
          </a:xfrm>
          <a:prstGeom prst="rect">
            <a:avLst/>
          </a:prstGeom>
          <a:solidFill>
            <a:srgbClr val="DDEFEF"/>
          </a:solidFill>
          <a:ln>
            <a:solidFill>
              <a:srgbClr val="8FB9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1F2933"/>
                </a:solidFill>
                <a:latin typeface="Arial" panose="020B0604020202020204" pitchFamily="34" charset="0"/>
              </a:rPr>
              <a:t>dim_branch</a:t>
            </a:r>
          </a:p>
          <a:p>
            <a:pPr algn="ctr"/>
            <a:r>
              <a:rPr lang="ru-RU" b="1">
                <a:solidFill>
                  <a:srgbClr val="1F2933"/>
                </a:solidFill>
                <a:latin typeface="Arial" panose="020B0604020202020204" pitchFamily="34" charset="0"/>
              </a:rPr>
              <a:t>филиалы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5D9AB58-D958-A50C-4DCC-153F15CE7635}"/>
              </a:ext>
            </a:extLst>
          </p:cNvPr>
          <p:cNvSpPr/>
          <p:nvPr/>
        </p:nvSpPr>
        <p:spPr>
          <a:xfrm>
            <a:off x="1206500" y="4635500"/>
            <a:ext cx="2413000" cy="762000"/>
          </a:xfrm>
          <a:prstGeom prst="rect">
            <a:avLst/>
          </a:prstGeom>
          <a:solidFill>
            <a:srgbClr val="DDEFEF"/>
          </a:solidFill>
          <a:ln>
            <a:solidFill>
              <a:srgbClr val="8FB9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1F2933"/>
                </a:solidFill>
                <a:latin typeface="Arial" panose="020B0604020202020204" pitchFamily="34" charset="0"/>
              </a:rPr>
              <a:t>dim_book</a:t>
            </a:r>
          </a:p>
          <a:p>
            <a:pPr algn="ctr"/>
            <a:r>
              <a:rPr lang="ru-RU" b="1">
                <a:solidFill>
                  <a:srgbClr val="1F2933"/>
                </a:solidFill>
                <a:latin typeface="Arial" panose="020B0604020202020204" pitchFamily="34" charset="0"/>
              </a:rPr>
              <a:t>фонд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2BF5BD1-192E-B431-5FE2-10D2905740B1}"/>
              </a:ext>
            </a:extLst>
          </p:cNvPr>
          <p:cNvSpPr/>
          <p:nvPr/>
        </p:nvSpPr>
        <p:spPr>
          <a:xfrm>
            <a:off x="8572500" y="4635500"/>
            <a:ext cx="2413000" cy="762000"/>
          </a:xfrm>
          <a:prstGeom prst="rect">
            <a:avLst/>
          </a:prstGeom>
          <a:solidFill>
            <a:srgbClr val="DDEFEF"/>
          </a:solidFill>
          <a:ln>
            <a:solidFill>
              <a:srgbClr val="8FB9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1F2933"/>
                </a:solidFill>
                <a:latin typeface="Arial" panose="020B0604020202020204" pitchFamily="34" charset="0"/>
              </a:rPr>
              <a:t>dim_reader</a:t>
            </a:r>
          </a:p>
          <a:p>
            <a:pPr algn="ctr"/>
            <a:r>
              <a:rPr lang="ru-RU" b="1">
                <a:solidFill>
                  <a:srgbClr val="1F2933"/>
                </a:solidFill>
                <a:latin typeface="Arial" panose="020B0604020202020204" pitchFamily="34" charset="0"/>
              </a:rPr>
              <a:t>читатели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83C4B-85D3-AC05-E099-B2B54C0748E9}"/>
              </a:ext>
            </a:extLst>
          </p:cNvPr>
          <p:cNvSpPr txBox="1"/>
          <p:nvPr/>
        </p:nvSpPr>
        <p:spPr>
          <a:xfrm>
            <a:off x="3492500" y="5524500"/>
            <a:ext cx="5207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>
                <a:solidFill>
                  <a:srgbClr val="52616B"/>
                </a:solidFill>
                <a:latin typeface="Arial" panose="020B0604020202020204" pitchFamily="34" charset="0"/>
              </a:rPr>
              <a:t>Схема «звезда»: факты выдач связываются с измерениями для аналитических срезов.</a:t>
            </a:r>
          </a:p>
        </p:txBody>
      </p:sp>
    </p:spTree>
    <p:extLst>
      <p:ext uri="{BB962C8B-B14F-4D97-AF65-F5344CB8AC3E}">
        <p14:creationId xmlns:p14="http://schemas.microsoft.com/office/powerpoint/2010/main" val="1776926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A1E9E1-61A5-AF2A-A74D-20B69929BCAE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6E2B3-4A5B-0CDC-BCC9-237F8CC34C69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Результаты по филиалам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54940330-58FC-1FEA-F1E5-6F64AE5B8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071975"/>
              </p:ext>
            </p:extLst>
          </p:nvPr>
        </p:nvGraphicFramePr>
        <p:xfrm>
          <a:off x="571500" y="1651000"/>
          <a:ext cx="11049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350962851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76465448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766188497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34718043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Филиал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Выдачи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Читатели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Просрочки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44508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Центральная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867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391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28,3%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06709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Студ. городок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587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26,7%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81885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Северный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462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297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24,7%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51547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Детско-юнош.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284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201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33,1%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831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F7FE44-8125-6C92-3CCE-D54E8D732B84}"/>
              </a:ext>
            </a:extLst>
          </p:cNvPr>
          <p:cNvSpPr txBox="1"/>
          <p:nvPr/>
        </p:nvSpPr>
        <p:spPr>
          <a:xfrm>
            <a:off x="889000" y="5461000"/>
            <a:ext cx="10414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b="1">
                <a:solidFill>
                  <a:srgbClr val="1F2933"/>
                </a:solidFill>
                <a:latin typeface="Arial" panose="020B0604020202020204" pitchFamily="34" charset="0"/>
              </a:rPr>
              <a:t>Наибольшая нагрузка приходится на центральную библиотеку; самая высокая доля просрочек - в детско-юношеском филиале.</a:t>
            </a:r>
          </a:p>
        </p:txBody>
      </p:sp>
    </p:spTree>
    <p:extLst>
      <p:ext uri="{BB962C8B-B14F-4D97-AF65-F5344CB8AC3E}">
        <p14:creationId xmlns:p14="http://schemas.microsoft.com/office/powerpoint/2010/main" val="253904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D20476-C4AE-72AC-D903-D3A07DB4CB04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1A2D8-32FE-FDD6-A6C1-7E03FE7767D5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Результаты по разделам фонда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60BE116-C653-0246-3BC8-0BFAC758C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483727"/>
              </p:ext>
            </p:extLst>
          </p:nvPr>
        </p:nvGraphicFramePr>
        <p:xfrm>
          <a:off x="698500" y="1524000"/>
          <a:ext cx="10795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4057729130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1457602673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4109256304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7525869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ru-RU" sz="15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Раздел фонда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Выдачи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Обращаемость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1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Продления</a:t>
                      </a:r>
                    </a:p>
                  </a:txBody>
                  <a:tcPr marL="25400" marR="25400" anchor="ctr">
                    <a:solidFill>
                      <a:srgbClr val="DD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94092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Учебная литература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580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15,68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22,2%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095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Информационные технологии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475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13,97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21,9%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29102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Экономика и менеджмент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376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12,13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23,1%</a:t>
                      </a:r>
                    </a:p>
                  </a:txBody>
                  <a:tcPr marL="25400" marR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1937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Художественная литература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345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9,58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b="0">
                          <a:solidFill>
                            <a:srgbClr val="1F2933"/>
                          </a:solidFill>
                          <a:latin typeface="Arial" panose="020B0604020202020204" pitchFamily="34" charset="0"/>
                        </a:rPr>
                        <a:t>18,6%</a:t>
                      </a:r>
                    </a:p>
                  </a:txBody>
                  <a:tcPr marL="25400" marR="254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7429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9D18FE4-1A5B-EDBF-DCDA-A0D9B213FFFB}"/>
              </a:ext>
            </a:extLst>
          </p:cNvPr>
          <p:cNvSpPr txBox="1"/>
          <p:nvPr/>
        </p:nvSpPr>
        <p:spPr>
          <a:xfrm>
            <a:off x="1206500" y="4470400"/>
            <a:ext cx="9652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b="1">
                <a:solidFill>
                  <a:srgbClr val="1F2933"/>
                </a:solidFill>
                <a:latin typeface="Arial" panose="020B0604020202020204" pitchFamily="34" charset="0"/>
              </a:rPr>
              <a:t>Средняя обращаемость издания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963371-0B2E-5186-3349-BDB1FDCA8F7B}"/>
              </a:ext>
            </a:extLst>
          </p:cNvPr>
          <p:cNvSpPr txBox="1"/>
          <p:nvPr/>
        </p:nvSpPr>
        <p:spPr>
          <a:xfrm>
            <a:off x="1206500" y="49149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Учебная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513EA15-BB2C-2BD8-9729-193588382A0F}"/>
              </a:ext>
            </a:extLst>
          </p:cNvPr>
          <p:cNvSpPr/>
          <p:nvPr/>
        </p:nvSpPr>
        <p:spPr>
          <a:xfrm>
            <a:off x="3873500" y="4965700"/>
            <a:ext cx="6159500" cy="161925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92FC6-8939-80CE-C88A-4B15E911B7E5}"/>
              </a:ext>
            </a:extLst>
          </p:cNvPr>
          <p:cNvSpPr txBox="1"/>
          <p:nvPr/>
        </p:nvSpPr>
        <p:spPr>
          <a:xfrm>
            <a:off x="10109200" y="49149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15.68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42698-27A4-0DD8-779A-A9F6401D216A}"/>
              </a:ext>
            </a:extLst>
          </p:cNvPr>
          <p:cNvSpPr txBox="1"/>
          <p:nvPr/>
        </p:nvSpPr>
        <p:spPr>
          <a:xfrm>
            <a:off x="1206500" y="5216525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ИТ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35DEFDB-67B9-A113-F515-DBE7EE2E41BB}"/>
              </a:ext>
            </a:extLst>
          </p:cNvPr>
          <p:cNvSpPr/>
          <p:nvPr/>
        </p:nvSpPr>
        <p:spPr>
          <a:xfrm>
            <a:off x="3873500" y="5267325"/>
            <a:ext cx="5486400" cy="161925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CD31B-D830-EAED-963F-62B66261C3B2}"/>
              </a:ext>
            </a:extLst>
          </p:cNvPr>
          <p:cNvSpPr txBox="1"/>
          <p:nvPr/>
        </p:nvSpPr>
        <p:spPr>
          <a:xfrm>
            <a:off x="9436100" y="5216525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13.97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DFC23-F5B9-00B3-24E8-BA7675E215BF}"/>
              </a:ext>
            </a:extLst>
          </p:cNvPr>
          <p:cNvSpPr txBox="1"/>
          <p:nvPr/>
        </p:nvSpPr>
        <p:spPr>
          <a:xfrm>
            <a:off x="1206500" y="551815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Экономика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3B4421-321F-45D3-48AC-07CA50094CA4}"/>
              </a:ext>
            </a:extLst>
          </p:cNvPr>
          <p:cNvSpPr/>
          <p:nvPr/>
        </p:nvSpPr>
        <p:spPr>
          <a:xfrm>
            <a:off x="3873500" y="5568950"/>
            <a:ext cx="4762500" cy="161925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16535-F0E0-4134-B924-63FE6CE5AE9D}"/>
              </a:ext>
            </a:extLst>
          </p:cNvPr>
          <p:cNvSpPr txBox="1"/>
          <p:nvPr/>
        </p:nvSpPr>
        <p:spPr>
          <a:xfrm>
            <a:off x="8712200" y="551815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12.13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87B5FA-7312-FE33-0ED2-40A753813566}"/>
              </a:ext>
            </a:extLst>
          </p:cNvPr>
          <p:cNvSpPr txBox="1"/>
          <p:nvPr/>
        </p:nvSpPr>
        <p:spPr>
          <a:xfrm>
            <a:off x="1206500" y="5819775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Художественная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920EC21-9B90-6AC7-3FEF-C279E50D2A02}"/>
              </a:ext>
            </a:extLst>
          </p:cNvPr>
          <p:cNvSpPr/>
          <p:nvPr/>
        </p:nvSpPr>
        <p:spPr>
          <a:xfrm>
            <a:off x="3873500" y="5870575"/>
            <a:ext cx="3759200" cy="161925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B2454-ECCD-F663-2E4E-FE7A36219584}"/>
              </a:ext>
            </a:extLst>
          </p:cNvPr>
          <p:cNvSpPr txBox="1"/>
          <p:nvPr/>
        </p:nvSpPr>
        <p:spPr>
          <a:xfrm>
            <a:off x="7708900" y="5819775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9.58</a:t>
            </a:r>
          </a:p>
        </p:txBody>
      </p:sp>
    </p:spTree>
    <p:extLst>
      <p:ext uri="{BB962C8B-B14F-4D97-AF65-F5344CB8AC3E}">
        <p14:creationId xmlns:p14="http://schemas.microsoft.com/office/powerpoint/2010/main" val="4977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890ABEF-67A2-D900-CD37-9BD94A88B31E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BD145C-E886-6FA7-08A8-C752EFDB494E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Динамика выдач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FA990-4D25-843A-D0B9-2ADDE534419C}"/>
              </a:ext>
            </a:extLst>
          </p:cNvPr>
          <p:cNvSpPr txBox="1"/>
          <p:nvPr/>
        </p:nvSpPr>
        <p:spPr>
          <a:xfrm>
            <a:off x="1079500" y="1231900"/>
            <a:ext cx="10033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b="1">
                <a:solidFill>
                  <a:srgbClr val="1F2933"/>
                </a:solidFill>
                <a:latin typeface="Arial" panose="020B0604020202020204" pitchFamily="34" charset="0"/>
              </a:rPr>
              <a:t>Выдачи по месяцам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1C703-7EB9-6C4C-9E38-AFDAF2C7F2CA}"/>
              </a:ext>
            </a:extLst>
          </p:cNvPr>
          <p:cNvSpPr txBox="1"/>
          <p:nvPr/>
        </p:nvSpPr>
        <p:spPr>
          <a:xfrm>
            <a:off x="1079500" y="16764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Янв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9313A18-43D4-3F6D-DAAC-E9E9E4C1CA74}"/>
              </a:ext>
            </a:extLst>
          </p:cNvPr>
          <p:cNvSpPr/>
          <p:nvPr/>
        </p:nvSpPr>
        <p:spPr>
          <a:xfrm>
            <a:off x="3746500" y="1727200"/>
            <a:ext cx="40767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35830-5626-90D8-C3DF-E6D9E77CE0F0}"/>
              </a:ext>
            </a:extLst>
          </p:cNvPr>
          <p:cNvSpPr txBox="1"/>
          <p:nvPr/>
        </p:nvSpPr>
        <p:spPr>
          <a:xfrm>
            <a:off x="7899400" y="16764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152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27B8C-4319-7EE2-24CD-AB85E5AB49A9}"/>
              </a:ext>
            </a:extLst>
          </p:cNvPr>
          <p:cNvSpPr txBox="1"/>
          <p:nvPr/>
        </p:nvSpPr>
        <p:spPr>
          <a:xfrm>
            <a:off x="1079500" y="19939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Фев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6FAB9DA-F2BF-4A5C-EB97-9A73B091C5D1}"/>
              </a:ext>
            </a:extLst>
          </p:cNvPr>
          <p:cNvSpPr/>
          <p:nvPr/>
        </p:nvSpPr>
        <p:spPr>
          <a:xfrm>
            <a:off x="3746500" y="2044700"/>
            <a:ext cx="58928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4CB3AC-907E-A70A-5D27-4657D335CC5B}"/>
              </a:ext>
            </a:extLst>
          </p:cNvPr>
          <p:cNvSpPr txBox="1"/>
          <p:nvPr/>
        </p:nvSpPr>
        <p:spPr>
          <a:xfrm>
            <a:off x="9715500" y="19939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220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C9D4F8-108A-2FC4-D61B-606F4CC7C330}"/>
              </a:ext>
            </a:extLst>
          </p:cNvPr>
          <p:cNvSpPr txBox="1"/>
          <p:nvPr/>
        </p:nvSpPr>
        <p:spPr>
          <a:xfrm>
            <a:off x="1079500" y="23114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Мар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3BB3641-5355-A2C2-7500-A091B9C99E60}"/>
              </a:ext>
            </a:extLst>
          </p:cNvPr>
          <p:cNvSpPr/>
          <p:nvPr/>
        </p:nvSpPr>
        <p:spPr>
          <a:xfrm>
            <a:off x="3746500" y="2362200"/>
            <a:ext cx="58674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E5E665-F56C-BA84-7BC3-F26561EB0C69}"/>
              </a:ext>
            </a:extLst>
          </p:cNvPr>
          <p:cNvSpPr txBox="1"/>
          <p:nvPr/>
        </p:nvSpPr>
        <p:spPr>
          <a:xfrm>
            <a:off x="9690100" y="23114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219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764912-0FAF-913F-31E2-88D124235FAE}"/>
              </a:ext>
            </a:extLst>
          </p:cNvPr>
          <p:cNvSpPr txBox="1"/>
          <p:nvPr/>
        </p:nvSpPr>
        <p:spPr>
          <a:xfrm>
            <a:off x="1079500" y="26289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Апр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237AE0D-591E-B1F4-2F74-F1129ACB1F42}"/>
              </a:ext>
            </a:extLst>
          </p:cNvPr>
          <p:cNvSpPr/>
          <p:nvPr/>
        </p:nvSpPr>
        <p:spPr>
          <a:xfrm>
            <a:off x="3746500" y="2679700"/>
            <a:ext cx="59817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C8FA75-9E72-A959-1F0D-F8056318E1BE}"/>
              </a:ext>
            </a:extLst>
          </p:cNvPr>
          <p:cNvSpPr txBox="1"/>
          <p:nvPr/>
        </p:nvSpPr>
        <p:spPr>
          <a:xfrm>
            <a:off x="9804400" y="26289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223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3A49F6-C676-CAAC-933F-8EE7D18CB0C0}"/>
              </a:ext>
            </a:extLst>
          </p:cNvPr>
          <p:cNvSpPr txBox="1"/>
          <p:nvPr/>
        </p:nvSpPr>
        <p:spPr>
          <a:xfrm>
            <a:off x="1079500" y="29464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Май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5C61B6E-8B7C-BCF7-53E3-73A71BF93A81}"/>
              </a:ext>
            </a:extLst>
          </p:cNvPr>
          <p:cNvSpPr/>
          <p:nvPr/>
        </p:nvSpPr>
        <p:spPr>
          <a:xfrm>
            <a:off x="3746500" y="2997200"/>
            <a:ext cx="48514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BF9A5F-1FDE-FE57-DC4A-28D8989FC744}"/>
              </a:ext>
            </a:extLst>
          </p:cNvPr>
          <p:cNvSpPr txBox="1"/>
          <p:nvPr/>
        </p:nvSpPr>
        <p:spPr>
          <a:xfrm>
            <a:off x="8674100" y="29464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181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E7F6CE-A78E-EFC7-E0BB-FDD0BD498AE0}"/>
              </a:ext>
            </a:extLst>
          </p:cNvPr>
          <p:cNvSpPr txBox="1"/>
          <p:nvPr/>
        </p:nvSpPr>
        <p:spPr>
          <a:xfrm>
            <a:off x="1079500" y="32639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Июн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9913ED3-D97B-8D5C-AF16-216DE421867D}"/>
              </a:ext>
            </a:extLst>
          </p:cNvPr>
          <p:cNvSpPr/>
          <p:nvPr/>
        </p:nvSpPr>
        <p:spPr>
          <a:xfrm>
            <a:off x="3746500" y="3314700"/>
            <a:ext cx="29972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1CABC4-CE1A-DE43-681A-87064E6B15B2}"/>
              </a:ext>
            </a:extLst>
          </p:cNvPr>
          <p:cNvSpPr txBox="1"/>
          <p:nvPr/>
        </p:nvSpPr>
        <p:spPr>
          <a:xfrm>
            <a:off x="6819900" y="32639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8850AA-0323-778F-C800-77A076910122}"/>
              </a:ext>
            </a:extLst>
          </p:cNvPr>
          <p:cNvSpPr txBox="1"/>
          <p:nvPr/>
        </p:nvSpPr>
        <p:spPr>
          <a:xfrm>
            <a:off x="1079500" y="35814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Июл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7A0AB8C-BC05-C141-2E8A-2FA639CDFE7C}"/>
              </a:ext>
            </a:extLst>
          </p:cNvPr>
          <p:cNvSpPr/>
          <p:nvPr/>
        </p:nvSpPr>
        <p:spPr>
          <a:xfrm>
            <a:off x="3746500" y="3632200"/>
            <a:ext cx="31369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3C3695-4A49-4042-4A61-09F64A074F61}"/>
              </a:ext>
            </a:extLst>
          </p:cNvPr>
          <p:cNvSpPr txBox="1"/>
          <p:nvPr/>
        </p:nvSpPr>
        <p:spPr>
          <a:xfrm>
            <a:off x="6959600" y="35814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117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F73CB1-B7D6-610E-9F69-68DD905E5E33}"/>
              </a:ext>
            </a:extLst>
          </p:cNvPr>
          <p:cNvSpPr txBox="1"/>
          <p:nvPr/>
        </p:nvSpPr>
        <p:spPr>
          <a:xfrm>
            <a:off x="1079500" y="38989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Авг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093FC41-F970-A091-6129-4818E6FC2E13}"/>
              </a:ext>
            </a:extLst>
          </p:cNvPr>
          <p:cNvSpPr/>
          <p:nvPr/>
        </p:nvSpPr>
        <p:spPr>
          <a:xfrm>
            <a:off x="3746500" y="3949700"/>
            <a:ext cx="33020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EDC1AC-B233-13A3-89AE-F785ABE82143}"/>
              </a:ext>
            </a:extLst>
          </p:cNvPr>
          <p:cNvSpPr txBox="1"/>
          <p:nvPr/>
        </p:nvSpPr>
        <p:spPr>
          <a:xfrm>
            <a:off x="7124700" y="38989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123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8791CF-A443-89EA-73A9-FBA05A9A44CD}"/>
              </a:ext>
            </a:extLst>
          </p:cNvPr>
          <p:cNvSpPr txBox="1"/>
          <p:nvPr/>
        </p:nvSpPr>
        <p:spPr>
          <a:xfrm>
            <a:off x="1079500" y="42164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Сен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E199B09-2DF5-8D45-EC15-3C8F8CDA25D5}"/>
              </a:ext>
            </a:extLst>
          </p:cNvPr>
          <p:cNvSpPr/>
          <p:nvPr/>
        </p:nvSpPr>
        <p:spPr>
          <a:xfrm>
            <a:off x="3746500" y="4267200"/>
            <a:ext cx="62484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6EFFE-7E28-C04E-0E3B-0A8A431D48A2}"/>
              </a:ext>
            </a:extLst>
          </p:cNvPr>
          <p:cNvSpPr txBox="1"/>
          <p:nvPr/>
        </p:nvSpPr>
        <p:spPr>
          <a:xfrm>
            <a:off x="10071100" y="42164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233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882BA6-57E6-55A1-C746-7C5536C433F0}"/>
              </a:ext>
            </a:extLst>
          </p:cNvPr>
          <p:cNvSpPr txBox="1"/>
          <p:nvPr/>
        </p:nvSpPr>
        <p:spPr>
          <a:xfrm>
            <a:off x="1079500" y="45339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Окт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FE36E17-8B78-4604-F6F7-354597BF8D16}"/>
              </a:ext>
            </a:extLst>
          </p:cNvPr>
          <p:cNvSpPr/>
          <p:nvPr/>
        </p:nvSpPr>
        <p:spPr>
          <a:xfrm>
            <a:off x="3746500" y="4584700"/>
            <a:ext cx="65405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129E94-C4C6-16AE-7726-F2D3CCD8121C}"/>
              </a:ext>
            </a:extLst>
          </p:cNvPr>
          <p:cNvSpPr txBox="1"/>
          <p:nvPr/>
        </p:nvSpPr>
        <p:spPr>
          <a:xfrm>
            <a:off x="10363200" y="45339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244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ADAC7B-298C-96C2-6A81-DB391157ADA1}"/>
              </a:ext>
            </a:extLst>
          </p:cNvPr>
          <p:cNvSpPr txBox="1"/>
          <p:nvPr/>
        </p:nvSpPr>
        <p:spPr>
          <a:xfrm>
            <a:off x="1079500" y="48514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Ноя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CF6DFB8-3E36-9C25-6F26-B07388F81482}"/>
              </a:ext>
            </a:extLst>
          </p:cNvPr>
          <p:cNvSpPr/>
          <p:nvPr/>
        </p:nvSpPr>
        <p:spPr>
          <a:xfrm>
            <a:off x="3746500" y="4902200"/>
            <a:ext cx="52578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FF17DC-4763-654F-2574-0E075758A7D0}"/>
              </a:ext>
            </a:extLst>
          </p:cNvPr>
          <p:cNvSpPr txBox="1"/>
          <p:nvPr/>
        </p:nvSpPr>
        <p:spPr>
          <a:xfrm>
            <a:off x="9080500" y="48514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196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DC5F8C-A467-CC9F-529D-DE8F9B4C1419}"/>
              </a:ext>
            </a:extLst>
          </p:cNvPr>
          <p:cNvSpPr txBox="1"/>
          <p:nvPr/>
        </p:nvSpPr>
        <p:spPr>
          <a:xfrm>
            <a:off x="1079500" y="5168900"/>
            <a:ext cx="25654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>
                <a:solidFill>
                  <a:srgbClr val="1F2933"/>
                </a:solidFill>
                <a:latin typeface="Arial" panose="020B0604020202020204" pitchFamily="34" charset="0"/>
              </a:rPr>
              <a:t>Дек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9C78B1B-3259-07FE-705E-FB5B52869C74}"/>
              </a:ext>
            </a:extLst>
          </p:cNvPr>
          <p:cNvSpPr/>
          <p:nvPr/>
        </p:nvSpPr>
        <p:spPr>
          <a:xfrm>
            <a:off x="3746500" y="5219700"/>
            <a:ext cx="4826000" cy="177800"/>
          </a:xfrm>
          <a:prstGeom prst="rect">
            <a:avLst/>
          </a:prstGeom>
          <a:solidFill>
            <a:srgbClr val="557A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2AC84B-4D6D-D171-DAF0-8FB04FB3BA6A}"/>
              </a:ext>
            </a:extLst>
          </p:cNvPr>
          <p:cNvSpPr txBox="1"/>
          <p:nvPr/>
        </p:nvSpPr>
        <p:spPr>
          <a:xfrm>
            <a:off x="8648700" y="5168900"/>
            <a:ext cx="698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1300" b="1">
                <a:solidFill>
                  <a:srgbClr val="1F2933"/>
                </a:solidFill>
                <a:latin typeface="Arial" panose="020B0604020202020204" pitchFamily="34" charset="0"/>
              </a:rPr>
              <a:t>180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B7C60D-E49D-4A61-0CB2-4319BD606D97}"/>
              </a:ext>
            </a:extLst>
          </p:cNvPr>
          <p:cNvSpPr txBox="1"/>
          <p:nvPr/>
        </p:nvSpPr>
        <p:spPr>
          <a:xfrm>
            <a:off x="1079500" y="5969000"/>
            <a:ext cx="10033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>
                <a:solidFill>
                  <a:srgbClr val="1F2933"/>
                </a:solidFill>
                <a:latin typeface="Arial" panose="020B0604020202020204" pitchFamily="34" charset="0"/>
              </a:rPr>
              <a:t>График показывает сезонность: активность зависит от учебного календаря и состава фонда.</a:t>
            </a:r>
          </a:p>
        </p:txBody>
      </p:sp>
    </p:spTree>
    <p:extLst>
      <p:ext uri="{BB962C8B-B14F-4D97-AF65-F5344CB8AC3E}">
        <p14:creationId xmlns:p14="http://schemas.microsoft.com/office/powerpoint/2010/main" val="56165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E8DE694-155E-95C6-83AE-918CEE149F58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7B1DA6-CB6B-EEEC-BE6D-E2BD363F03CF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Ограничения и развитие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4FFA7-765E-F75C-9235-91BD60F88A31}"/>
              </a:ext>
            </a:extLst>
          </p:cNvPr>
          <p:cNvSpPr txBox="1"/>
          <p:nvPr/>
        </p:nvSpPr>
        <p:spPr>
          <a:xfrm>
            <a:off x="1079500" y="1651000"/>
            <a:ext cx="10033000" cy="134395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данные в прототипе демонстрационные;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строгие показатели обращаемости, читаемости и книгообеспеченности требуют полного объема фонда и числа пользователей;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00">
                <a:solidFill>
                  <a:srgbClr val="1F2933"/>
                </a:solidFill>
                <a:latin typeface="Arial" panose="020B0604020202020204" pitchFamily="34" charset="0"/>
              </a:rPr>
              <a:t>для практического применения нужен интерфейс или BI-панель.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F49B5-2161-1AB1-BF8E-B6B49AD8BB13}"/>
              </a:ext>
            </a:extLst>
          </p:cNvPr>
          <p:cNvSpPr txBox="1"/>
          <p:nvPr/>
        </p:nvSpPr>
        <p:spPr>
          <a:xfrm>
            <a:off x="1079500" y="4635500"/>
            <a:ext cx="10033000" cy="66684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000" b="1">
                <a:solidFill>
                  <a:srgbClr val="1F2933"/>
                </a:solidFill>
                <a:latin typeface="Arial" panose="020B0604020202020204" pitchFamily="34" charset="0"/>
              </a:rPr>
              <a:t>Дальнейшие шаги: подключить реальные выгрузки АБИС, очистить данные, расширить показатели и перенести решение на серверную СУБД.</a:t>
            </a:r>
          </a:p>
        </p:txBody>
      </p:sp>
    </p:spTree>
    <p:extLst>
      <p:ext uri="{BB962C8B-B14F-4D97-AF65-F5344CB8AC3E}">
        <p14:creationId xmlns:p14="http://schemas.microsoft.com/office/powerpoint/2010/main" val="2555755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98852A0-BE77-B265-E7B8-7872003B98D1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solidFill>
            <a:srgbClr val="2F6F7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3C27F-BB30-6261-47AC-B2364BF82B33}"/>
              </a:ext>
            </a:extLst>
          </p:cNvPr>
          <p:cNvSpPr txBox="1"/>
          <p:nvPr/>
        </p:nvSpPr>
        <p:spPr>
          <a:xfrm>
            <a:off x="635000" y="571500"/>
            <a:ext cx="10922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ru-RU" sz="2800" b="1">
                <a:solidFill>
                  <a:srgbClr val="1F2933"/>
                </a:solidFill>
                <a:latin typeface="Arial" panose="020B0604020202020204" pitchFamily="34" charset="0"/>
              </a:rPr>
              <a:t>Выводы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4749D-BB9A-6401-6E90-7834D59F28B7}"/>
              </a:ext>
            </a:extLst>
          </p:cNvPr>
          <p:cNvSpPr txBox="1"/>
          <p:nvPr/>
        </p:nvSpPr>
        <p:spPr>
          <a:xfrm>
            <a:off x="1079500" y="1651000"/>
            <a:ext cx="10160000" cy="275973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OLAP-подход подходит для анализа библиотечного фонда по нескольким разрезам.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ROLAP-модель на SQLite позволила получить проверяемые SQL-расчеты.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Подготовлены база, запросы, таблицы, графики, итоговый отчет и презентация.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200">
                <a:solidFill>
                  <a:srgbClr val="1F2933"/>
                </a:solidFill>
                <a:latin typeface="Arial" panose="020B0604020202020204" pitchFamily="34" charset="0"/>
              </a:rPr>
              <a:t>Прототип задает основу для будущей системы с реальными данными и BI-панелью.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7BFCCE-CC63-0C77-3A23-5C5D5C96E5A6}"/>
              </a:ext>
            </a:extLst>
          </p:cNvPr>
          <p:cNvSpPr/>
          <p:nvPr/>
        </p:nvSpPr>
        <p:spPr>
          <a:xfrm>
            <a:off x="1460500" y="5397500"/>
            <a:ext cx="9271000" cy="609600"/>
          </a:xfrm>
          <a:prstGeom prst="rect">
            <a:avLst/>
          </a:prstGeom>
          <a:solidFill>
            <a:srgbClr val="DDEFEF"/>
          </a:solidFill>
          <a:ln>
            <a:solidFill>
              <a:srgbClr val="8FB9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1F2933"/>
                </a:solidFill>
                <a:latin typeface="Arial" panose="020B0604020202020204" pitchFamily="34" charset="0"/>
              </a:rPr>
              <a:t>github.com/FazexIam/library-fund-olap-research</a:t>
            </a:r>
            <a:endParaRPr lang="ru-RU" sz="2000" b="1">
              <a:solidFill>
                <a:srgbClr val="1F293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2216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Произвольный</PresentationFormat>
  <Paragraphs>127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Fazex Iam</dc:creator>
  <cp:lastModifiedBy>Fazex Iam</cp:lastModifiedBy>
  <cp:revision>1</cp:revision>
  <dcterms:created xsi:type="dcterms:W3CDTF">2026-06-07T20:19:16Z</dcterms:created>
  <dcterms:modified xsi:type="dcterms:W3CDTF">2026-06-07T20:19:16Z</dcterms:modified>
</cp:coreProperties>
</file>